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Local1"/>
    <p:sldId id="257" r:id="rIdLocal2"/>
    <p:sldId id="258" r:id="rIdLocal3"/>
    <p:sldId id="259" r:id="rIdLocal4"/>
    <p:sldId id="260" r:id="rIdLocal5"/>
    <p:sldId id="261" r:id="rIdLocal6"/>
    <p:sldId id="262" r:id="rIdLocal7"/>
    <p:sldId id="263" r:id="rIdLocal8"/>
    <p:sldId id="264" r:id="rIdLocal9"/>
    <p:sldId id="265" r:id="rIdLocal10"/>
    <p:sldId id="266" r:id="rIdLocal11"/>
    <p:sldId id="267" r:id="rIdLocal12"/>
    <p:sldId id="268" r:id="rIdLocal13"/>
    <p:sldId id="269" r:id="rIdLocal1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Local1" Type="http://schemas.openxmlformats.org/officeDocument/2006/relationships/slide" Target="slides/slide1.xml"/><Relationship Id="rIdLocal10" Type="http://schemas.openxmlformats.org/officeDocument/2006/relationships/slide" Target="slides/slide10.xml"/><Relationship Id="rIdLocal11" Type="http://schemas.openxmlformats.org/officeDocument/2006/relationships/slide" Target="slides/slide11.xml"/><Relationship Id="rIdLocal12" Type="http://schemas.openxmlformats.org/officeDocument/2006/relationships/slide" Target="slides/slide12.xml"/><Relationship Id="rIdLocal13" Type="http://schemas.openxmlformats.org/officeDocument/2006/relationships/slide" Target="slides/slide13.xml"/><Relationship Id="rIdLocal14" Type="http://schemas.openxmlformats.org/officeDocument/2006/relationships/slide" Target="slides/slide14.xml"/><Relationship Id="rIdLocal2" Type="http://schemas.openxmlformats.org/officeDocument/2006/relationships/slide" Target="slides/slide2.xml"/><Relationship Id="rIdLocal3" Type="http://schemas.openxmlformats.org/officeDocument/2006/relationships/slide" Target="slides/slide3.xml"/><Relationship Id="rIdLocal4" Type="http://schemas.openxmlformats.org/officeDocument/2006/relationships/slide" Target="slides/slide4.xml"/><Relationship Id="rIdLocal5" Type="http://schemas.openxmlformats.org/officeDocument/2006/relationships/slide" Target="slides/slide5.xml"/><Relationship Id="rIdLocal6" Type="http://schemas.openxmlformats.org/officeDocument/2006/relationships/slide" Target="slides/slide6.xml"/><Relationship Id="rIdLocal7" Type="http://schemas.openxmlformats.org/officeDocument/2006/relationships/slide" Target="slides/slide7.xml"/><Relationship Id="rIdLocal8" Type="http://schemas.openxmlformats.org/officeDocument/2006/relationships/slide" Target="slides/slide8.xml"/><Relationship Id="rIdLocal9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000"/>
            <a:ext cx="12192119" cy="1098000"/>
          </a:xfrm>
          <a:prstGeom prst="rect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68000" y="6138000"/>
            <a:ext cx="1007999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000" y="540000"/>
            <a:ext cx="1224000" cy="378000"/>
          </a:xfrm>
          <a:prstGeom prst="roundRect">
            <a:avLst>
              <a:gd name="adj" fmla="val 50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900000" y="640800"/>
            <a:ext cx="180000" cy="180000"/>
          </a:xfrm>
          <a:prstGeom prst="ellipse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title"/>
          <p:cNvSpPr txBox="1"/>
          <p:nvPr/>
        </p:nvSpPr>
        <p:spPr>
          <a:xfrm>
            <a:off x="792000" y="2160000"/>
            <a:ext cx="6336000" cy="154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4000" b="1">
                <a:solidFill>
                  <a:srgbClr val="22242E"/>
                </a:solidFill>
                <a:latin typeface="Microsoft YaHei"/>
              </a:rPr>
              <a:t>Kubernetes 入门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92000" y="3924000"/>
            <a:ext cx="6120000" cy="39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700" b="0">
                <a:solidFill>
                  <a:srgbClr val="8A8D98"/>
                </a:solidFill>
                <a:latin typeface="Microsoft YaHei"/>
              </a:rPr>
              <a:t>核心概念与一次应用部署</a:t>
            </a:r>
          </a:p>
        </p:txBody>
      </p:sp>
      <p:sp>
        <p:nvSpPr>
          <p:cNvPr id="8" name="meta"/>
          <p:cNvSpPr txBox="1"/>
          <p:nvPr/>
        </p:nvSpPr>
        <p:spPr>
          <a:xfrm>
            <a:off x="792000" y="6138000"/>
            <a:ext cx="5400000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技术分享 · 本地模板示例</a:t>
            </a:r>
          </a:p>
        </p:txBody>
      </p:sp>
      <p:pic>
        <p:nvPicPr>
          <p:cNvPr id="9" name="image" descr="封面配图"/>
          <p:cNvPicPr>
            <a:picLocks noChangeAspect="1"/>
          </p:cNvPicPr>
          <p:nvPr/>
        </p:nvPicPr>
        <p:blipFill>
          <a:blip r:embed="rId3"/>
          <a:srcRect t="1754" b="1754"/>
          <a:stretch>
            <a:fillRect/>
          </a:stretch>
        </p:blipFill>
        <p:spPr>
          <a:xfrm>
            <a:off x="7343999" y="827999"/>
            <a:ext cx="4104000" cy="39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5400000" y="2088000"/>
            <a:ext cx="5832000" cy="413999"/>
            <a:chOff x="5400000" y="2088000"/>
            <a:chExt cx="5832000" cy="413999"/>
          </a:xfrm>
        </p:grpSpPr>
        <p:sp>
          <p:nvSpPr>
            <p:cNvPr id="3" name="Rounded Rectangle 2"/>
            <p:cNvSpPr/>
            <p:nvPr/>
          </p:nvSpPr>
          <p:spPr>
            <a:xfrm>
              <a:off x="5400000" y="2088000"/>
              <a:ext cx="413999" cy="413999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01</a:t>
              </a:r>
            </a:p>
          </p:txBody>
        </p:sp>
        <p:sp>
          <p:nvSpPr>
            <p:cNvPr id="4" name="item"/>
            <p:cNvSpPr txBox="1"/>
            <p:nvPr/>
          </p:nvSpPr>
          <p:spPr>
            <a:xfrm>
              <a:off x="5976000" y="2124000"/>
              <a:ext cx="5256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700" b="0">
                  <a:solidFill>
                    <a:srgbClr val="22242E"/>
                  </a:solidFill>
                  <a:latin typeface="Microsoft YaHei"/>
                </a:rPr>
                <a:t>Kubernetes 是什么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400000" y="2808000"/>
            <a:ext cx="5832000" cy="413999"/>
            <a:chOff x="5400000" y="2808000"/>
            <a:chExt cx="5832000" cy="413999"/>
          </a:xfrm>
        </p:grpSpPr>
        <p:sp>
          <p:nvSpPr>
            <p:cNvPr id="6" name="Rounded Rectangle 5"/>
            <p:cNvSpPr/>
            <p:nvPr/>
          </p:nvSpPr>
          <p:spPr>
            <a:xfrm>
              <a:off x="5400000" y="2808000"/>
              <a:ext cx="413999" cy="413999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02</a:t>
              </a:r>
            </a:p>
          </p:txBody>
        </p:sp>
        <p:sp>
          <p:nvSpPr>
            <p:cNvPr id="7" name="item"/>
            <p:cNvSpPr txBox="1"/>
            <p:nvPr/>
          </p:nvSpPr>
          <p:spPr>
            <a:xfrm>
              <a:off x="5976000" y="2844000"/>
              <a:ext cx="5256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700" b="0">
                  <a:solidFill>
                    <a:srgbClr val="22242E"/>
                  </a:solidFill>
                  <a:latin typeface="Microsoft YaHei"/>
                </a:rPr>
                <a:t>集群架构</a:t>
              </a:r>
            </a:p>
          </p:txBody>
        </p:sp>
      </p:grpSp>
      <p:sp>
        <p:nvSpPr>
          <p:cNvPr id="10" name="title"/>
          <p:cNvSpPr txBox="1"/>
          <p:nvPr/>
        </p:nvSpPr>
        <p:spPr>
          <a:xfrm>
            <a:off x="5400000" y="1296000"/>
            <a:ext cx="5760000" cy="57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目录</a:t>
            </a:r>
          </a:p>
        </p:txBody>
      </p:sp>
      <p:grpSp>
        <p:nvGrpSpPr>
          <p:cNvPr id="11" name="Group 4"/>
          <p:cNvGrpSpPr/>
          <p:nvPr/>
        </p:nvGrpSpPr>
        <p:grpSpPr>
          <a:xfrm>
            <a:off x="5400000" y="3528000"/>
            <a:ext cx="5832000" cy="413999"/>
            <a:chOff x="5400000" y="2808000"/>
            <a:chExt cx="5832000" cy="413999"/>
          </a:xfrm>
        </p:grpSpPr>
        <p:sp>
          <p:nvSpPr>
            <p:cNvPr id="12" name="Rounded Rectangle 5"/>
            <p:cNvSpPr/>
            <p:nvPr/>
          </p:nvSpPr>
          <p:spPr>
            <a:xfrm>
              <a:off x="5400000" y="2808000"/>
              <a:ext cx="413999" cy="413999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03</a:t>
              </a:r>
            </a:p>
          </p:txBody>
        </p:sp>
        <p:sp>
          <p:nvSpPr>
            <p:cNvPr id="13" name="item"/>
            <p:cNvSpPr txBox="1"/>
            <p:nvPr/>
          </p:nvSpPr>
          <p:spPr>
            <a:xfrm>
              <a:off x="5976000" y="2844000"/>
              <a:ext cx="5256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700" b="0">
                  <a:solidFill>
                    <a:srgbClr val="22242E"/>
                  </a:solidFill>
                  <a:latin typeface="Microsoft YaHei"/>
                </a:rPr>
                <a:t>资源对象</a:t>
              </a:r>
            </a:p>
          </p:txBody>
        </p:sp>
      </p:grpSp>
      <p:grpSp>
        <p:nvGrpSpPr>
          <p:cNvPr id="14" name="Group 4"/>
          <p:cNvGrpSpPr/>
          <p:nvPr/>
        </p:nvGrpSpPr>
        <p:grpSpPr>
          <a:xfrm>
            <a:off x="5400000" y="4248000"/>
            <a:ext cx="5832000" cy="413999"/>
            <a:chOff x="5400000" y="2808000"/>
            <a:chExt cx="5832000" cy="413999"/>
          </a:xfrm>
        </p:grpSpPr>
        <p:sp>
          <p:nvSpPr>
            <p:cNvPr id="15" name="Rounded Rectangle 5"/>
            <p:cNvSpPr/>
            <p:nvPr/>
          </p:nvSpPr>
          <p:spPr>
            <a:xfrm>
              <a:off x="5400000" y="2808000"/>
              <a:ext cx="413999" cy="413999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04</a:t>
              </a:r>
            </a:p>
          </p:txBody>
        </p:sp>
        <p:sp>
          <p:nvSpPr>
            <p:cNvPr id="16" name="item"/>
            <p:cNvSpPr txBox="1"/>
            <p:nvPr/>
          </p:nvSpPr>
          <p:spPr>
            <a:xfrm>
              <a:off x="5976000" y="2844000"/>
              <a:ext cx="5256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700" b="0">
                  <a:solidFill>
                    <a:srgbClr val="22242E"/>
                  </a:solidFill>
                  <a:latin typeface="Microsoft YaHei"/>
                </a:rPr>
                <a:t>应用部署</a:t>
              </a:r>
            </a:p>
          </p:txBody>
        </p:sp>
      </p:grpSp>
      <p:grpSp>
        <p:nvGrpSpPr>
          <p:cNvPr id="17" name="Group 4"/>
          <p:cNvGrpSpPr/>
          <p:nvPr/>
        </p:nvGrpSpPr>
        <p:grpSpPr>
          <a:xfrm>
            <a:off x="5400000" y="4968000"/>
            <a:ext cx="5832000" cy="413999"/>
            <a:chOff x="5400000" y="2808000"/>
            <a:chExt cx="5832000" cy="413999"/>
          </a:xfrm>
        </p:grpSpPr>
        <p:sp>
          <p:nvSpPr>
            <p:cNvPr id="18" name="Rounded Rectangle 5"/>
            <p:cNvSpPr/>
            <p:nvPr/>
          </p:nvSpPr>
          <p:spPr>
            <a:xfrm>
              <a:off x="5400000" y="2808000"/>
              <a:ext cx="413999" cy="413999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05</a:t>
              </a:r>
            </a:p>
          </p:txBody>
        </p:sp>
        <p:sp>
          <p:nvSpPr>
            <p:cNvPr id="19" name="item"/>
            <p:cNvSpPr txBox="1"/>
            <p:nvPr/>
          </p:nvSpPr>
          <p:spPr>
            <a:xfrm>
              <a:off x="5976000" y="2844000"/>
              <a:ext cx="5256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700" b="0">
                  <a:solidFill>
                    <a:srgbClr val="22242E"/>
                  </a:solidFill>
                  <a:latin typeface="Microsoft YaHei"/>
                </a:rPr>
                <a:t>运维机制</a:t>
              </a:r>
            </a:p>
          </p:txBody>
        </p:sp>
      </p:grpSp>
      <p:grpSp>
        <p:nvGrpSpPr>
          <p:cNvPr id="20" name="Group 4"/>
          <p:cNvGrpSpPr/>
          <p:nvPr/>
        </p:nvGrpSpPr>
        <p:grpSpPr>
          <a:xfrm>
            <a:off x="5400000" y="5688000"/>
            <a:ext cx="5832000" cy="413999"/>
            <a:chOff x="5400000" y="2808000"/>
            <a:chExt cx="5832000" cy="413999"/>
          </a:xfrm>
        </p:grpSpPr>
        <p:sp>
          <p:nvSpPr>
            <p:cNvPr id="21" name="Rounded Rectangle 5"/>
            <p:cNvSpPr/>
            <p:nvPr/>
          </p:nvSpPr>
          <p:spPr>
            <a:xfrm>
              <a:off x="5400000" y="2808000"/>
              <a:ext cx="413999" cy="413999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06</a:t>
              </a:r>
            </a:p>
          </p:txBody>
        </p:sp>
        <p:sp>
          <p:nvSpPr>
            <p:cNvPr id="22" name="item"/>
            <p:cNvSpPr txBox="1"/>
            <p:nvPr/>
          </p:nvSpPr>
          <p:spPr>
            <a:xfrm>
              <a:off x="5976000" y="2844000"/>
              <a:ext cx="5256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700" b="0">
                  <a:solidFill>
                    <a:srgbClr val="22242E"/>
                  </a:solidFill>
                  <a:latin typeface="Microsoft YaHei"/>
                </a:rPr>
                <a:t>实践路径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Kubernetes 是什么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7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Kubernetes</a:t>
            </a:r>
            <a:r>
              <a:rPr sz="1700" b="0">
                <a:solidFill>
                  <a:srgbClr val="22242E"/>
                </a:solidFill>
                <a:latin typeface="Microsoft YaHei"/>
              </a:rPr>
              <a:t> 是容器编排系统，常简称 K8S。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它协调多个节点上的容器化应用。</a:t>
            </a:r>
          </a:p>
          <a:p>
            <a:pPr marL="342900" indent="-342900">
              <a:buClr>
                <a:srgbClr val="E85A2E"/>
              </a:buClr>
              <a:buChar char="✓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部署应用并管理副本</a:t>
            </a:r>
          </a:p>
          <a:p>
            <a:pPr marL="342900" indent="-342900">
              <a:buClr>
                <a:srgbClr val="E85A2E"/>
              </a:buClr>
              <a:buChar char="✓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为服务提供稳定访问方式</a:t>
            </a:r>
          </a:p>
          <a:p>
            <a:pPr marL="342900" indent="-342900">
              <a:buClr>
                <a:srgbClr val="E85A2E"/>
              </a:buClr>
              <a:buChar char="✓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在故障后恢复期望状态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容器封装运行环境，K8S 管理容器的运行。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集群的两类节点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700" b="1">
                <a:solidFill>
                  <a:srgbClr val="22242E"/>
                </a:solidFill>
                <a:latin typeface="Microsoft YaHei"/>
              </a:rPr>
              <a:t>控制平面</a:t>
            </a:r>
            <a:r>
              <a:rPr sz="1700" b="0">
                <a:solidFill>
                  <a:srgbClr val="22242E"/>
                </a:solidFill>
                <a:latin typeface="Microsoft YaHei"/>
              </a:rPr>
              <a:t>管理集群状态与调度决策。</a:t>
            </a:r>
          </a:p>
          <a:p>
            <a:pPr marL="342900" indent="-342900">
              <a:buChar char="•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API Server：集群管理入口</a:t>
            </a:r>
          </a:p>
          <a:p>
            <a:pPr marL="342900" indent="-342900">
              <a:buChar char="•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etcd：保存集群状态</a:t>
            </a:r>
          </a:p>
          <a:p>
            <a:pPr marL="342900" indent="-342900">
              <a:buChar char="•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Scheduler：为待运行的 Pod 选择节点</a:t>
            </a:r>
          </a:p>
          <a:p>
            <a:pPr marL="342900" indent="-342900">
              <a:buChar char="•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Controller：推动实际状态接近期望状态</a:t>
            </a:r>
          </a:p>
          <a:p>
            <a:pPr>
              <a:buNone/>
            </a:pPr>
            <a:r>
              <a:rPr sz="1700" b="1">
                <a:solidFill>
                  <a:srgbClr val="22242E"/>
                </a:solidFill>
                <a:latin typeface="Microsoft YaHei"/>
              </a:rPr>
              <a:t>工作节点</a:t>
            </a:r>
            <a:r>
              <a:rPr sz="1700" b="0">
                <a:solidFill>
                  <a:srgbClr val="22242E"/>
                </a:solidFill>
                <a:latin typeface="Microsoft YaHei"/>
              </a:rPr>
              <a:t>承载业务 Pod。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kubelet 协调运行，容器运行时启动容器。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常见资源对象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aphicFrame>
        <p:nvGraphicFramePr>
          <p:cNvPr id="7" name="data"/>
          <p:cNvGraphicFramePr>
            <a:graphicFrameLocks noGrp="1"/>
          </p:cNvGraphicFramePr>
          <p:nvPr/>
        </p:nvGraphicFramePr>
        <p:xfrm>
          <a:off x="720000" y="1440000"/>
          <a:ext cx="10753200" cy="453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84400"/>
                <a:gridCol w="3584400"/>
                <a:gridCol w="3584400"/>
              </a:tblGrid>
              <a:tr h="756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对象</a:t>
                      </a:r>
                    </a:p>
                  </a:txBody>
                  <a:tcPr anchor="ctr" marT="36000" marB="36000">
                    <a:solidFill>
                      <a:srgbClr val="E85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主要用途</a:t>
                      </a:r>
                    </a:p>
                  </a:txBody>
                  <a:tcPr anchor="ctr" marT="36000" marB="36000">
                    <a:solidFill>
                      <a:srgbClr val="E85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 anchor="ctr" marT="36000" marB="36000">
                    <a:solidFill>
                      <a:srgbClr val="E85A2E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1">
                          <a:solidFill>
                            <a:srgbClr val="22242E"/>
                          </a:solidFill>
                          <a:latin typeface="Microsoft YaHei"/>
                        </a:rPr>
                        <a:t>Pod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容器运行单元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一个应用实例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Deployment</a:t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管理副本与更新</a:t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三个服务副本</a:t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Service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提供稳定访问入口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集群内服务名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ConfigMap</a:t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保存非敏感配置</a:t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应用配置项</a:t>
                      </a:r>
                    </a:p>
                  </a:txBody>
                  <a:tcPr anchor="ctr" marT="36000" marB="36000">
                    <a:solidFill>
                      <a:srgbClr val="FFFFFF"/>
                    </a:solidFill>
                  </a:tcPr>
                </a:tc>
              </a:tr>
              <a:tr h="756000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PVC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申请持久存储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300" b="0">
                          <a:solidFill>
                            <a:srgbClr val="22242E"/>
                          </a:solidFill>
                          <a:latin typeface="Microsoft YaHei"/>
                        </a:rPr>
                        <a:t>数据卷申请</a:t>
                      </a:r>
                    </a:p>
                  </a:txBody>
                  <a:tcPr anchor="ctr" marT="36000" marB="36000">
                    <a:solidFill>
                      <a:srgbClr val="F5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Kubernetes 核心能力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300" b="0">
                <a:solidFill>
                  <a:srgbClr val="8A8D98"/>
                </a:solidFill>
                <a:latin typeface="Microsoft YaHei"/>
              </a:rPr>
              <a:t>声明式管理下的四类能力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0000" y="1512000"/>
            <a:ext cx="2538000" cy="2052000"/>
            <a:chOff x="720000" y="1512000"/>
            <a:chExt cx="2538000" cy="2052000"/>
          </a:xfrm>
        </p:grpSpPr>
        <p:sp>
          <p:nvSpPr>
            <p:cNvPr id="8" name="Rounded Rectangle 7"/>
            <p:cNvSpPr/>
            <p:nvPr/>
          </p:nvSpPr>
          <p:spPr>
            <a:xfrm>
              <a:off x="720000" y="1512000"/>
              <a:ext cx="2538000" cy="2052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17999" y="1728000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▶</a:t>
              </a:r>
            </a:p>
          </p:txBody>
        </p:sp>
        <p:sp>
          <p:nvSpPr>
            <p:cNvPr id="10" name="card_title"/>
            <p:cNvSpPr txBox="1"/>
            <p:nvPr/>
          </p:nvSpPr>
          <p:spPr>
            <a:xfrm>
              <a:off x="917999" y="2340000"/>
              <a:ext cx="2124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500" b="1">
                  <a:solidFill>
                    <a:srgbClr val="22242E"/>
                  </a:solidFill>
                  <a:latin typeface="Microsoft YaHei"/>
                </a:rPr>
                <a:t>应用部署</a:t>
              </a:r>
            </a:p>
          </p:txBody>
        </p:sp>
        <p:sp>
          <p:nvSpPr>
            <p:cNvPr id="11" name="card_desc"/>
            <p:cNvSpPr txBox="1"/>
            <p:nvPr/>
          </p:nvSpPr>
          <p:spPr>
            <a:xfrm>
              <a:off x="917999" y="2682000"/>
              <a:ext cx="2142000" cy="6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100" b="0">
                  <a:solidFill>
                    <a:srgbClr val="8A8D98"/>
                  </a:solidFill>
                  <a:latin typeface="Microsoft YaHei"/>
                </a:rPr>
                <a:t>声明镜像与副本数，控制器维持期望状态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438000" y="1512000"/>
            <a:ext cx="2538000" cy="2052000"/>
            <a:chOff x="3438000" y="1512000"/>
            <a:chExt cx="2538000" cy="2052000"/>
          </a:xfrm>
        </p:grpSpPr>
        <p:sp>
          <p:nvSpPr>
            <p:cNvPr id="13" name="Rounded Rectangle 12"/>
            <p:cNvSpPr/>
            <p:nvPr/>
          </p:nvSpPr>
          <p:spPr>
            <a:xfrm>
              <a:off x="3438000" y="1512000"/>
              <a:ext cx="2538000" cy="2052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636000" y="1728000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⇄</a:t>
              </a:r>
            </a:p>
          </p:txBody>
        </p:sp>
        <p:sp>
          <p:nvSpPr>
            <p:cNvPr id="15" name="card_title"/>
            <p:cNvSpPr txBox="1"/>
            <p:nvPr/>
          </p:nvSpPr>
          <p:spPr>
            <a:xfrm>
              <a:off x="3636000" y="2340000"/>
              <a:ext cx="2124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500" b="1">
                  <a:solidFill>
                    <a:srgbClr val="22242E"/>
                  </a:solidFill>
                  <a:latin typeface="Microsoft YaHei"/>
                </a:rPr>
                <a:t>服务发现</a:t>
              </a:r>
            </a:p>
          </p:txBody>
        </p:sp>
        <p:sp>
          <p:nvSpPr>
            <p:cNvPr id="16" name="card_desc"/>
            <p:cNvSpPr txBox="1"/>
            <p:nvPr/>
          </p:nvSpPr>
          <p:spPr>
            <a:xfrm>
              <a:off x="3636000" y="2682000"/>
              <a:ext cx="2142000" cy="6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100" b="0">
                  <a:solidFill>
                    <a:srgbClr val="8A8D98"/>
                  </a:solidFill>
                  <a:latin typeface="Microsoft YaHei"/>
                </a:rPr>
                <a:t>标签选择 Pod，提供稳定访问入口</a:t>
              </a:r>
            </a:p>
          </p:txBody>
        </p:sp>
      </p:grpSp>
      <p:grpSp>
        <p:nvGrpSpPr>
          <p:cNvPr id="27" name="Group 11"/>
          <p:cNvGrpSpPr/>
          <p:nvPr/>
        </p:nvGrpSpPr>
        <p:grpSpPr>
          <a:xfrm>
            <a:off x="6156000" y="1512000"/>
            <a:ext cx="2538000" cy="2052000"/>
            <a:chOff x="3438000" y="1512000"/>
            <a:chExt cx="2538000" cy="2052000"/>
          </a:xfrm>
        </p:grpSpPr>
        <p:sp>
          <p:nvSpPr>
            <p:cNvPr id="28" name="Rounded Rectangle 12"/>
            <p:cNvSpPr/>
            <p:nvPr/>
          </p:nvSpPr>
          <p:spPr>
            <a:xfrm>
              <a:off x="3438000" y="1512000"/>
              <a:ext cx="2538000" cy="2052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29" name="Rounded Rectangle 13"/>
            <p:cNvSpPr/>
            <p:nvPr/>
          </p:nvSpPr>
          <p:spPr>
            <a:xfrm>
              <a:off x="3636000" y="1728000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▤</a:t>
              </a:r>
            </a:p>
          </p:txBody>
        </p:sp>
        <p:sp>
          <p:nvSpPr>
            <p:cNvPr id="30" name="card_title"/>
            <p:cNvSpPr txBox="1"/>
            <p:nvPr/>
          </p:nvSpPr>
          <p:spPr>
            <a:xfrm>
              <a:off x="3636000" y="2340000"/>
              <a:ext cx="2124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500" b="1">
                  <a:solidFill>
                    <a:srgbClr val="22242E"/>
                  </a:solidFill>
                  <a:latin typeface="Microsoft YaHei"/>
                </a:rPr>
                <a:t>配置存储</a:t>
              </a:r>
            </a:p>
          </p:txBody>
        </p:sp>
        <p:sp>
          <p:nvSpPr>
            <p:cNvPr id="31" name="card_desc"/>
            <p:cNvSpPr txBox="1"/>
            <p:nvPr/>
          </p:nvSpPr>
          <p:spPr>
            <a:xfrm>
              <a:off x="3636000" y="2682000"/>
              <a:ext cx="2142000" cy="6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100" b="0">
                  <a:solidFill>
                    <a:srgbClr val="8A8D98"/>
                  </a:solidFill>
                  <a:latin typeface="Microsoft YaHei"/>
                </a:rPr>
                <a:t>ConfigMap 与 PVC 管理配置和数据卷</a:t>
              </a:r>
            </a:p>
          </p:txBody>
        </p:sp>
      </p:grpSp>
      <p:grpSp>
        <p:nvGrpSpPr>
          <p:cNvPr id="32" name="Group 11"/>
          <p:cNvGrpSpPr/>
          <p:nvPr/>
        </p:nvGrpSpPr>
        <p:grpSpPr>
          <a:xfrm>
            <a:off x="8874000" y="1512000"/>
            <a:ext cx="2538000" cy="2052000"/>
            <a:chOff x="3438000" y="1512000"/>
            <a:chExt cx="2538000" cy="2052000"/>
          </a:xfrm>
        </p:grpSpPr>
        <p:sp>
          <p:nvSpPr>
            <p:cNvPr id="33" name="Rounded Rectangle 12"/>
            <p:cNvSpPr/>
            <p:nvPr/>
          </p:nvSpPr>
          <p:spPr>
            <a:xfrm>
              <a:off x="3438000" y="1512000"/>
              <a:ext cx="2538000" cy="2052000"/>
            </a:xfrm>
            <a:prstGeom prst="roundRect">
              <a:avLst>
                <a:gd name="adj" fmla="val 12000"/>
              </a:avLst>
            </a:prstGeom>
            <a:solidFill>
              <a:srgbClr val="F5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Microsoft YaHei"/>
                </a:rPr>
                <a:t/>
              </a:r>
            </a:p>
          </p:txBody>
        </p:sp>
        <p:sp>
          <p:nvSpPr>
            <p:cNvPr id="34" name="Rounded Rectangle 13"/>
            <p:cNvSpPr/>
            <p:nvPr/>
          </p:nvSpPr>
          <p:spPr>
            <a:xfrm>
              <a:off x="3636000" y="1728000"/>
              <a:ext cx="450000" cy="450000"/>
            </a:xfrm>
            <a:prstGeom prst="roundRect">
              <a:avLst>
                <a:gd name="adj" fmla="val 35000"/>
              </a:avLst>
            </a:prstGeom>
            <a:solidFill>
              <a:srgbClr val="E85A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square"/>
            <a:lstStyle/>
            <a:p>
              <a:pPr algn="ctr">
                <a:buNone/>
              </a:pPr>
              <a:r>
                <a:rPr sz="1500" b="1">
                  <a:solidFill>
                    <a:srgbClr val="FFFFFF"/>
                  </a:solidFill>
                  <a:latin typeface="Microsoft YaHei"/>
                </a:rPr>
                <a:t>✚</a:t>
              </a:r>
            </a:p>
          </p:txBody>
        </p:sp>
        <p:sp>
          <p:nvSpPr>
            <p:cNvPr id="35" name="card_title"/>
            <p:cNvSpPr txBox="1"/>
            <p:nvPr/>
          </p:nvSpPr>
          <p:spPr>
            <a:xfrm>
              <a:off x="3636000" y="2340000"/>
              <a:ext cx="2124000" cy="32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500" b="1">
                  <a:solidFill>
                    <a:srgbClr val="22242E"/>
                  </a:solidFill>
                  <a:latin typeface="Microsoft YaHei"/>
                </a:rPr>
                <a:t>弹性伸缩</a:t>
              </a:r>
            </a:p>
          </p:txBody>
        </p:sp>
        <p:sp>
          <p:nvSpPr>
            <p:cNvPr id="36" name="card_desc"/>
            <p:cNvSpPr txBox="1"/>
            <p:nvPr/>
          </p:nvSpPr>
          <p:spPr>
            <a:xfrm>
              <a:off x="3636000" y="2682000"/>
              <a:ext cx="2142000" cy="68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100" b="0">
                  <a:solidFill>
                    <a:srgbClr val="8A8D98"/>
                  </a:solidFill>
                  <a:latin typeface="Microsoft YaHei"/>
                </a:rPr>
                <a:t>HPA 依据指标自动调整副本数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Pod 与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700" b="1">
                <a:solidFill>
                  <a:srgbClr val="22242E"/>
                </a:solidFill>
                <a:latin typeface="Microsoft YaHei"/>
              </a:rPr>
              <a:t>Pod</a:t>
            </a:r>
            <a:r>
              <a:rPr sz="1700" b="0">
                <a:solidFill>
                  <a:srgbClr val="22242E"/>
                </a:solidFill>
                <a:latin typeface="Microsoft YaHei"/>
              </a:rPr>
              <a:t> 是 Kubernetes 的最小部署单元。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一个 Pod 可包含紧密协作的多个容器。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Pod 内容器共享网络和声明的存储卷。</a:t>
            </a:r>
          </a:p>
          <a:p>
            <a:pPr>
              <a:buNone/>
            </a:pPr>
            <a:r>
              <a:rPr sz="1700" b="1">
                <a:solidFill>
                  <a:srgbClr val="22242E"/>
                </a:solidFill>
                <a:latin typeface="Microsoft YaHei"/>
              </a:rPr>
              <a:t>Deployment</a:t>
            </a:r>
            <a:r>
              <a:rPr sz="1700" b="0">
                <a:solidFill>
                  <a:srgbClr val="22242E"/>
                </a:solidFill>
                <a:latin typeface="Microsoft YaHei"/>
              </a:rPr>
              <a:t> 管理无状态应用的副本与更新。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通过 ReplicaSet 维持期望的 Pod 数量。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业务通常创建 Deployment，而非手工维护 Pod。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Service 与应用访问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Pod 可能重建，Pod IP 不适合作为固定入口。</a:t>
            </a:r>
          </a:p>
          <a:p>
            <a:pPr>
              <a:buNone/>
            </a:pPr>
            <a:r>
              <a:rPr sz="1700" b="1">
                <a:solidFill>
                  <a:srgbClr val="22242E"/>
                </a:solidFill>
                <a:latin typeface="Microsoft YaHei"/>
              </a:rPr>
              <a:t>Service</a:t>
            </a:r>
            <a:r>
              <a:rPr sz="1700" b="0">
                <a:solidFill>
                  <a:srgbClr val="22242E"/>
                </a:solidFill>
                <a:latin typeface="Microsoft YaHei"/>
              </a:rPr>
              <a:t> 通过标签选择一组 Pod。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ClusterIP 类型提供集群内部访问入口。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外部访问可用 LoadBalancer 或 Ingress。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LoadBalancer 的实现取决于集群基础设施。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Ingress 需要控制器，常用于 HTTP/HTTPS 路由。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一次应用部署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marL="342900" indent="-342900">
              <a:buAutoNum type="arabicPeriod" startAt="1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构建镜像并推送到内网镜像仓库。</a:t>
            </a:r>
          </a:p>
          <a:p>
            <a:pPr marL="342900" indent="-342900">
              <a:buAutoNum type="arabicPeriod" startAt="2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编写 Deployment，声明镜像和副本数。</a:t>
            </a:r>
          </a:p>
          <a:p>
            <a:pPr marL="342900" indent="-342900">
              <a:buAutoNum type="arabicPeriod" startAt="3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编写 Service，为应用提供访问入口。</a:t>
            </a:r>
          </a:p>
          <a:p>
            <a:pPr marL="342900" indent="-342900">
              <a:buAutoNum type="arabicPeriod" startAt="4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用 kubectl apply 提交资源声明。</a:t>
            </a:r>
          </a:p>
          <a:p>
            <a:pPr marL="342900" indent="-342900">
              <a:buAutoNum type="arabicPeriod" startAt="5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检查 Pod 状态、日志和服务访问。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镜像拉取权限与资源配额应在部署前准备。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为什么要容器编排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720000" y="900000"/>
            <a:ext cx="8640000" cy="324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300" b="0">
                <a:solidFill>
                  <a:srgbClr val="8A8D98"/>
                </a:solidFill>
                <a:latin typeface="Microsoft YaHei"/>
              </a:rPr>
              <a:t>规模化运维带来的量化收益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20000" y="2015999"/>
            <a:ext cx="2628000" cy="2196001"/>
            <a:chOff x="720000" y="2015999"/>
            <a:chExt cx="2628000" cy="2196001"/>
          </a:xfrm>
        </p:grpSpPr>
        <p:sp>
          <p:nvSpPr>
            <p:cNvPr id="8" name="num"/>
            <p:cNvSpPr txBox="1"/>
            <p:nvPr/>
          </p:nvSpPr>
          <p:spPr>
            <a:xfrm>
              <a:off x="720000" y="2015999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3400" b="1">
                  <a:solidFill>
                    <a:srgbClr val="E85A2E"/>
                  </a:solidFill>
                  <a:latin typeface="Microsoft YaHei"/>
                </a:rPr>
                <a:t>80%</a:t>
              </a:r>
            </a:p>
          </p:txBody>
        </p:sp>
        <p:sp>
          <p:nvSpPr>
            <p:cNvPr id="9" name="label"/>
            <p:cNvSpPr txBox="1"/>
            <p:nvPr/>
          </p:nvSpPr>
          <p:spPr>
            <a:xfrm>
              <a:off x="720000" y="2951999"/>
              <a:ext cx="2628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500" b="1">
                  <a:solidFill>
                    <a:srgbClr val="22242E"/>
                  </a:solidFill>
                  <a:latin typeface="Microsoft YaHei"/>
                </a:rPr>
                <a:t>发布耗时下降</a:t>
              </a:r>
            </a:p>
          </p:txBody>
        </p:sp>
        <p:sp>
          <p:nvSpPr>
            <p:cNvPr id="10" name="num_desc"/>
            <p:cNvSpPr txBox="1"/>
            <p:nvPr/>
          </p:nvSpPr>
          <p:spPr>
            <a:xfrm>
              <a:off x="720000" y="3348000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100" b="0">
                  <a:solidFill>
                    <a:srgbClr val="8A8D98"/>
                  </a:solidFill>
                  <a:latin typeface="Microsoft YaHei"/>
                </a:rPr>
                <a:t>声明式部署替代手工操作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581999" y="2015999"/>
            <a:ext cx="2628000" cy="2196001"/>
            <a:chOff x="3581999" y="2015999"/>
            <a:chExt cx="2628000" cy="2196001"/>
          </a:xfrm>
        </p:grpSpPr>
        <p:sp>
          <p:nvSpPr>
            <p:cNvPr id="12" name="num"/>
            <p:cNvSpPr txBox="1"/>
            <p:nvPr/>
          </p:nvSpPr>
          <p:spPr>
            <a:xfrm>
              <a:off x="3581999" y="2015999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3400" b="1">
                  <a:solidFill>
                    <a:srgbClr val="E85A2E"/>
                  </a:solidFill>
                  <a:latin typeface="Microsoft YaHei"/>
                </a:rPr>
                <a:t>3 倍</a:t>
              </a:r>
            </a:p>
          </p:txBody>
        </p:sp>
        <p:sp>
          <p:nvSpPr>
            <p:cNvPr id="13" name="label"/>
            <p:cNvSpPr txBox="1"/>
            <p:nvPr/>
          </p:nvSpPr>
          <p:spPr>
            <a:xfrm>
              <a:off x="3581999" y="2951999"/>
              <a:ext cx="2628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500" b="1">
                  <a:solidFill>
                    <a:srgbClr val="22242E"/>
                  </a:solidFill>
                  <a:latin typeface="Microsoft YaHei"/>
                </a:rPr>
                <a:t>故障恢复提速</a:t>
              </a:r>
            </a:p>
          </p:txBody>
        </p:sp>
        <p:sp>
          <p:nvSpPr>
            <p:cNvPr id="14" name="num_desc"/>
            <p:cNvSpPr txBox="1"/>
            <p:nvPr/>
          </p:nvSpPr>
          <p:spPr>
            <a:xfrm>
              <a:off x="3581999" y="3348000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100" b="0">
                  <a:solidFill>
                    <a:srgbClr val="8A8D98"/>
                  </a:solidFill>
                  <a:latin typeface="Microsoft YaHei"/>
                </a:rPr>
                <a:t>控制器自动补齐副本</a:t>
              </a:r>
            </a:p>
          </p:txBody>
        </p:sp>
      </p:grpSp>
      <p:grpSp>
        <p:nvGrpSpPr>
          <p:cNvPr id="15" name="Group 10"/>
          <p:cNvGrpSpPr/>
          <p:nvPr/>
        </p:nvGrpSpPr>
        <p:grpSpPr>
          <a:xfrm>
            <a:off x="6443999" y="2015999"/>
            <a:ext cx="2628000" cy="2196001"/>
            <a:chOff x="3581999" y="2015999"/>
            <a:chExt cx="2628000" cy="2196001"/>
          </a:xfrm>
        </p:grpSpPr>
        <p:sp>
          <p:nvSpPr>
            <p:cNvPr id="16" name="num"/>
            <p:cNvSpPr txBox="1"/>
            <p:nvPr/>
          </p:nvSpPr>
          <p:spPr>
            <a:xfrm>
              <a:off x="3581999" y="2015999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3400" b="1">
                  <a:solidFill>
                    <a:srgbClr val="E85A2E"/>
                  </a:solidFill>
                  <a:latin typeface="Microsoft YaHei"/>
                </a:rPr>
                <a:t>50%</a:t>
              </a:r>
            </a:p>
          </p:txBody>
        </p:sp>
        <p:sp>
          <p:nvSpPr>
            <p:cNvPr id="17" name="label"/>
            <p:cNvSpPr txBox="1"/>
            <p:nvPr/>
          </p:nvSpPr>
          <p:spPr>
            <a:xfrm>
              <a:off x="3581999" y="2951999"/>
              <a:ext cx="2628000" cy="342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500" b="1">
                  <a:solidFill>
                    <a:srgbClr val="22242E"/>
                  </a:solidFill>
                  <a:latin typeface="Microsoft YaHei"/>
                </a:rPr>
                <a:t>资源利用率提升</a:t>
              </a:r>
            </a:p>
          </p:txBody>
        </p:sp>
        <p:sp>
          <p:nvSpPr>
            <p:cNvPr id="18" name="num_desc"/>
            <p:cNvSpPr txBox="1"/>
            <p:nvPr/>
          </p:nvSpPr>
          <p:spPr>
            <a:xfrm>
              <a:off x="3581999" y="3348000"/>
              <a:ext cx="2628000" cy="864000"/>
            </a:xfrm>
            <a:prstGeom prst="rect">
              <a:avLst/>
            </a:prstGeom>
            <a:noFill/>
          </p:spPr>
          <p:txBody>
            <a:bodyPr wrap="square" lIns="36000" rIns="36000" tIns="18000" bIns="18000">
              <a:spAutoFit/>
            </a:bodyPr>
            <a:lstStyle/>
            <a:p>
              <a:pPr>
                <a:buNone/>
              </a:pPr>
              <a:r>
                <a:rPr sz="1100" b="0">
                  <a:solidFill>
                    <a:srgbClr val="8A8D98"/>
                  </a:solidFill>
                  <a:latin typeface="Microsoft YaHei"/>
                </a:rPr>
                <a:t>调度器统一分配节点资源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副本、更新与故障恢复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700" b="1">
                <a:solidFill>
                  <a:srgbClr val="22242E"/>
                </a:solidFill>
                <a:latin typeface="Microsoft YaHei"/>
              </a:rPr>
              <a:t>扩缩容</a:t>
            </a:r>
            <a:r>
              <a:rPr sz="1700" b="0">
                <a:solidFill>
                  <a:srgbClr val="22242E"/>
                </a:solidFill>
                <a:latin typeface="Microsoft YaHei"/>
              </a:rPr>
              <a:t>通过调整期望副本数实现。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HPA 可依据指标调整副本，需要指标来源。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Deployment 支持滚动更新与版本回退。</a:t>
            </a:r>
          </a:p>
          <a:p>
            <a:pPr marL="342900" indent="-342900">
              <a:buChar char="✓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readiness 探针决定 Pod 是否接收流量</a:t>
            </a:r>
          </a:p>
          <a:p>
            <a:pPr marL="342900" indent="-342900">
              <a:buChar char="▶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liveness 探针失败可触发容器重启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节点故障时，控制器尝试补齐所需副本。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这些机制不能替代应用容错和数据备份。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配置、密钥与存储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ConfigMap 保存非敏感配置。</a:t>
            </a:r>
          </a:p>
          <a:p>
            <a:pPr>
              <a:buNone/>
            </a:pPr>
            <a:r>
              <a:rPr sz="1700" b="1">
                <a:solidFill>
                  <a:srgbClr val="22242E"/>
                </a:solidFill>
                <a:latin typeface="Microsoft YaHei"/>
              </a:rPr>
              <a:t>Secret</a:t>
            </a:r>
            <a:r>
              <a:rPr sz="1700" b="0">
                <a:solidFill>
                  <a:srgbClr val="22242E"/>
                </a:solidFill>
                <a:latin typeface="Microsoft YaHei"/>
              </a:rPr>
              <a:t> 保存敏感数据，访问需要权限控制。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Secret 的 Base64 编码不等于加密。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持久化应用通常通过 PVC 申请存储。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StatefulSet 管理需要稳定身份的应用实例。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使用 Namespace 组织资源，并结合 RBAC 授权。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Namespace 本身不提供完整的安全隔离。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342000"/>
            <a:ext cx="7920000" cy="540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2600" b="1">
                <a:solidFill>
                  <a:srgbClr val="22242E"/>
                </a:solidFill>
                <a:latin typeface="Microsoft YaHei"/>
              </a:rPr>
              <a:t>初学者的实践顺序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7999" y="280800"/>
            <a:ext cx="324000" cy="46800"/>
          </a:xfrm>
          <a:prstGeom prst="roundRect">
            <a:avLst>
              <a:gd name="adj" fmla="val 5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376000" y="324000"/>
            <a:ext cx="306000" cy="306000"/>
          </a:xfrm>
          <a:prstGeom prst="roundRect">
            <a:avLst>
              <a:gd name="adj" fmla="val 30000"/>
            </a:avLst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6443999"/>
            <a:ext cx="10753200" cy="10800"/>
          </a:xfrm>
          <a:prstGeom prst="rect">
            <a:avLst/>
          </a:prstGeom>
          <a:solidFill>
            <a:srgbClr val="E8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7" name="body"/>
          <p:cNvSpPr txBox="1"/>
          <p:nvPr/>
        </p:nvSpPr>
        <p:spPr>
          <a:xfrm>
            <a:off x="720000" y="1404000"/>
            <a:ext cx="10728000" cy="4788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marL="342900" indent="-342900">
              <a:buAutoNum type="arabicParenR" startAt="1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先理解 Pod、Deployment 和 Service。</a:t>
            </a:r>
          </a:p>
          <a:p>
            <a:pPr marL="342900" indent="-342900">
              <a:buAutoNum type="arabicParenR" startAt="2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在测试集群部署一个简单的无状态服务。</a:t>
            </a:r>
          </a:p>
          <a:p>
            <a:pPr marL="342900" indent="-342900">
              <a:buAutoNum type="arabicParenR" startAt="3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观察副本扩容、滚动更新和故障恢复。</a:t>
            </a:r>
          </a:p>
          <a:p>
            <a:pPr marL="342900" indent="-342900">
              <a:buAutoNum type="arabicParenR" startAt="4"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再补充配置、探针、资源限制和持久存储。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生产环境还需要监控、日志、备份与权限治理。</a:t>
            </a:r>
          </a:p>
          <a:p>
            <a:pPr>
              <a:buNone/>
            </a:pPr>
            <a:r>
              <a:rPr sz="1700" b="0">
                <a:solidFill>
                  <a:srgbClr val="22242E"/>
                </a:solidFill>
                <a:latin typeface="Microsoft YaHei"/>
              </a:rPr>
              <a:t>本演示聚焦通用概念，不绑定特定 K8S 版本。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000"/>
            <a:ext cx="12192119" cy="1098000"/>
          </a:xfrm>
          <a:prstGeom prst="rect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68000" y="6138000"/>
            <a:ext cx="1007999" cy="34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000" y="540000"/>
            <a:ext cx="1224000" cy="378000"/>
          </a:xfrm>
          <a:prstGeom prst="roundRect">
            <a:avLst>
              <a:gd name="adj" fmla="val 50000"/>
            </a:avLst>
          </a:prstGeom>
          <a:solidFill>
            <a:srgbClr val="F5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Oval 4"/>
          <p:cNvSpPr/>
          <p:nvPr/>
        </p:nvSpPr>
        <p:spPr>
          <a:xfrm>
            <a:off x="900000" y="640800"/>
            <a:ext cx="180000" cy="180000"/>
          </a:xfrm>
          <a:prstGeom prst="ellipse">
            <a:avLst/>
          </a:prstGeom>
          <a:solidFill>
            <a:srgbClr val="E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title"/>
          <p:cNvSpPr txBox="1"/>
          <p:nvPr/>
        </p:nvSpPr>
        <p:spPr>
          <a:xfrm>
            <a:off x="792000" y="2520000"/>
            <a:ext cx="6336000" cy="936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3600" b="1">
                <a:solidFill>
                  <a:srgbClr val="22242E"/>
                </a:solidFill>
                <a:latin typeface="Microsoft YaHei"/>
              </a:rPr>
              <a:t>谢谢观看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92000" y="3600000"/>
            <a:ext cx="6120000" cy="43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600" b="0">
                <a:solidFill>
                  <a:srgbClr val="8A8D98"/>
                </a:solidFill>
                <a:latin typeface="Microsoft YaHei"/>
              </a:rPr>
              <a:t>问题与讨论</a:t>
            </a:r>
          </a:p>
        </p:txBody>
      </p:sp>
      <p:sp>
        <p:nvSpPr>
          <p:cNvPr id="8" name="meta"/>
          <p:cNvSpPr txBox="1"/>
          <p:nvPr/>
        </p:nvSpPr>
        <p:spPr>
          <a:xfrm>
            <a:off x="792000" y="6138000"/>
            <a:ext cx="5400000" cy="3420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buNone/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由 local-ppt-template 本地生成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